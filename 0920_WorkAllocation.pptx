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3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8" r:id="rId4"/>
    <p:sldId id="259" r:id="rId5"/>
    <p:sldId id="261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9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4" Type="http://schemas.openxmlformats.org/officeDocument/2006/relationships/slideLayout" Target="../slideLayouts/slideLayout7.xml"/><Relationship Id="rId33" Type="http://schemas.openxmlformats.org/officeDocument/2006/relationships/image" Target="../media/image33.sv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svg"/><Relationship Id="rId3" Type="http://schemas.openxmlformats.org/officeDocument/2006/relationships/image" Target="../media/image3.svg"/><Relationship Id="rId29" Type="http://schemas.openxmlformats.org/officeDocument/2006/relationships/image" Target="../media/image29.png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sv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24.png"/><Relationship Id="rId7" Type="http://schemas.openxmlformats.org/officeDocument/2006/relationships/image" Target="../media/image35.sv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png"/><Relationship Id="rId3" Type="http://schemas.openxmlformats.org/officeDocument/2006/relationships/image" Target="../media/image34.svg"/><Relationship Id="rId2" Type="http://schemas.openxmlformats.org/officeDocument/2006/relationships/image" Target="../media/image2.pn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0.svg"/><Relationship Id="rId13" Type="http://schemas.openxmlformats.org/officeDocument/2006/relationships/image" Target="../media/image11.png"/><Relationship Id="rId12" Type="http://schemas.openxmlformats.org/officeDocument/2006/relationships/image" Target="../media/image39.svg"/><Relationship Id="rId11" Type="http://schemas.openxmlformats.org/officeDocument/2006/relationships/image" Target="../media/image38.png"/><Relationship Id="rId10" Type="http://schemas.openxmlformats.org/officeDocument/2006/relationships/image" Target="../media/image37.sv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10515" y="328930"/>
            <a:ext cx="11419205" cy="5193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600" b="1" i="1" u="sng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General Target</a:t>
            </a:r>
            <a:endParaRPr lang="en-US" altLang="zh-CN" sz="3600" i="1" u="sng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Develope an AI-powered, context-aware language learning platform for ESL, with real-time, personalized feedback -- </a:t>
            </a:r>
            <a:r>
              <a:rPr lang="en-US" altLang="zh-CN" b="1" i="1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CALLME: Context-Aware Language Learning with Multimodal Enhancement</a:t>
            </a:r>
            <a:endParaRPr lang="en-US" altLang="zh-CN" b="1" i="1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 b="1" i="1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 b="1" i="1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 sz="3600" b="1" i="1" u="sng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Challenge</a:t>
            </a:r>
            <a:endParaRPr lang="en-US" altLang="zh-CN" sz="3600" b="1" i="1" u="sng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 b="1" i="1" u="sng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Existing tools like Duolingo and ChatGPT are too generic—they don’t help users describe real, life-specific scenes or identify awkward phrasings in realistic contexts. 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795" y="4241800"/>
            <a:ext cx="11289665" cy="23558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7200" b="1">
                <a:solidFill>
                  <a:schemeClr val="accent3">
                    <a:lumMod val="50000"/>
                    <a:alpha val="89804"/>
                  </a:schemeClr>
                </a:solidFill>
                <a:latin typeface="Arial" panose="020B0604020202020204" pitchFamily="34" charset="0"/>
                <a:ea typeface="可画甜心体 1" panose="00020600040101010101"/>
                <a:cs typeface="Arial" panose="020B0604020202020204" pitchFamily="34" charset="0"/>
                <a:sym typeface="可画甜心体 1" panose="00020600040101010101"/>
              </a:rPr>
              <a:t>CALLME:</a:t>
            </a:r>
            <a:r>
              <a:rPr lang="en-US" sz="6000" b="1">
                <a:solidFill>
                  <a:schemeClr val="accent3">
                    <a:lumMod val="50000"/>
                    <a:alpha val="89804"/>
                  </a:schemeClr>
                </a:solidFill>
                <a:latin typeface="Arial" panose="020B0604020202020204" pitchFamily="34" charset="0"/>
                <a:ea typeface="可画甜心体 1" panose="00020600040101010101"/>
                <a:cs typeface="Arial" panose="020B0604020202020204" pitchFamily="34" charset="0"/>
                <a:sym typeface="可画甜心体 1" panose="00020600040101010101"/>
              </a:rPr>
              <a:t> </a:t>
            </a:r>
            <a:endParaRPr lang="en-US" sz="5400" b="1">
              <a:solidFill>
                <a:schemeClr val="accent3">
                  <a:lumMod val="50000"/>
                  <a:alpha val="89804"/>
                </a:schemeClr>
              </a:solidFill>
              <a:latin typeface="Arial" panose="020B0604020202020204" pitchFamily="34" charset="0"/>
              <a:ea typeface="可画甜心体 1" panose="00020600040101010101"/>
              <a:cs typeface="Arial" panose="020B0604020202020204" pitchFamily="34" charset="0"/>
              <a:sym typeface="可画甜心体 1" panose="00020600040101010101"/>
            </a:endParaRPr>
          </a:p>
          <a:p>
            <a:pPr algn="ctr">
              <a:lnSpc>
                <a:spcPct val="100000"/>
              </a:lnSpc>
            </a:pPr>
            <a:r>
              <a:rPr lang="en-US" altLang="zh-CN" sz="4800" b="1">
                <a:solidFill>
                  <a:schemeClr val="accent3">
                    <a:lumMod val="50000"/>
                    <a:alpha val="89804"/>
                  </a:schemeClr>
                </a:solidFill>
                <a:latin typeface="Arial" panose="020B0604020202020204" pitchFamily="34" charset="0"/>
                <a:ea typeface="可画甜心体 1" panose="00020600040101010101"/>
                <a:cs typeface="Arial" panose="020B0604020202020204" pitchFamily="34" charset="0"/>
                <a:sym typeface="可画甜心体 1" panose="00020600040101010101"/>
              </a:rPr>
              <a:t>Context-Aware Language Learning</a:t>
            </a:r>
            <a:endParaRPr lang="en-US" altLang="zh-CN" sz="4800" b="1">
              <a:solidFill>
                <a:schemeClr val="accent3">
                  <a:lumMod val="50000"/>
                  <a:alpha val="89804"/>
                </a:schemeClr>
              </a:solidFill>
              <a:latin typeface="Arial" panose="020B0604020202020204" pitchFamily="34" charset="0"/>
              <a:ea typeface="可画甜心体 1" panose="00020600040101010101"/>
              <a:cs typeface="Arial" panose="020B0604020202020204" pitchFamily="34" charset="0"/>
              <a:sym typeface="可画甜心体 1" panose="00020600040101010101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304800" y="342477"/>
            <a:ext cx="1553633" cy="992717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3" name="图片 2" descr="电脑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5200" y="635000"/>
            <a:ext cx="453813" cy="45381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4000" y="1335193"/>
            <a:ext cx="1611207" cy="44238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Photo Image/Video Input + Description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  <a:p>
            <a:pPr algn="ctr"/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cxnSp>
        <p:nvCxnSpPr>
          <p:cNvPr id="5" name="直接箭头连接符 4"/>
          <p:cNvCxnSpPr>
            <a:stCxn id="2" idx="3"/>
          </p:cNvCxnSpPr>
          <p:nvPr/>
        </p:nvCxnSpPr>
        <p:spPr>
          <a:xfrm>
            <a:off x="1858433" y="839047"/>
            <a:ext cx="376767" cy="0"/>
          </a:xfrm>
          <a:prstGeom prst="straightConnector1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625600" y="1336040"/>
            <a:ext cx="1676823" cy="25442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Computer Vision Grounding Model</a:t>
            </a:r>
            <a:endParaRPr lang="en-US" altLang="zh-CN" sz="1200" b="1">
              <a:solidFill>
                <a:schemeClr val="accent3">
                  <a:lumMod val="50000"/>
                </a:schemeClr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3146213" y="342477"/>
            <a:ext cx="1552787" cy="993563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2689013" y="838200"/>
            <a:ext cx="457200" cy="0"/>
          </a:xfrm>
          <a:prstGeom prst="straightConnector1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028527" y="1346200"/>
            <a:ext cx="1807210" cy="2878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Grounding Labels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pic>
        <p:nvPicPr>
          <p:cNvPr id="10" name="图片 9" descr="机器人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7600" y="1397000"/>
            <a:ext cx="453600" cy="453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656667" y="1905000"/>
            <a:ext cx="951653" cy="2878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MLLMs</a:t>
            </a:r>
            <a:endParaRPr lang="en-US" altLang="zh-CN" sz="1200" b="1">
              <a:solidFill>
                <a:schemeClr val="accent3">
                  <a:lumMod val="50000"/>
                </a:schemeClr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5320453" y="1651000"/>
            <a:ext cx="406400" cy="0"/>
          </a:xfrm>
          <a:prstGeom prst="straightConnector1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" name="图片 15" descr="人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5810" y="4140200"/>
            <a:ext cx="453600" cy="4536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04800" y="4653703"/>
            <a:ext cx="1446530" cy="280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Human Speech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pic>
        <p:nvPicPr>
          <p:cNvPr id="18" name="图片 17" descr="模型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39010" y="4089400"/>
            <a:ext cx="453600" cy="453600"/>
          </a:xfrm>
          <a:prstGeom prst="rect">
            <a:avLst/>
          </a:prstGeom>
        </p:spPr>
      </p:pic>
      <p:cxnSp>
        <p:nvCxnSpPr>
          <p:cNvPr id="19" name="直接箭头连接符 18"/>
          <p:cNvCxnSpPr/>
          <p:nvPr/>
        </p:nvCxnSpPr>
        <p:spPr>
          <a:xfrm>
            <a:off x="1117600" y="4342553"/>
            <a:ext cx="1126067" cy="0"/>
          </a:xfrm>
          <a:prstGeom prst="straightConnector1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783080" y="4648200"/>
            <a:ext cx="1446530" cy="280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Speech Processing Model</a:t>
            </a:r>
            <a:endParaRPr lang="en-US" altLang="zh-CN" sz="1200" b="1">
              <a:solidFill>
                <a:schemeClr val="accent3">
                  <a:lumMod val="50000"/>
                </a:schemeClr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pic>
        <p:nvPicPr>
          <p:cNvPr id="21" name="图片 20" descr="字体大小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56000" y="4089823"/>
            <a:ext cx="453600" cy="4536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3146213" y="4648200"/>
            <a:ext cx="1292013" cy="21801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ESL Expression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pic>
        <p:nvPicPr>
          <p:cNvPr id="24" name="图片 23" descr="机器人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53200" y="2362200"/>
            <a:ext cx="891540" cy="89154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6493087" y="3303270"/>
            <a:ext cx="951653" cy="2878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LLMs</a:t>
            </a:r>
            <a:endParaRPr lang="en-US" altLang="zh-CN" sz="1200" b="1">
              <a:solidFill>
                <a:schemeClr val="accent3">
                  <a:lumMod val="50000"/>
                </a:schemeClr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pic>
        <p:nvPicPr>
          <p:cNvPr id="28" name="图片 27" descr="数据报告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23200" y="1908810"/>
            <a:ext cx="453600" cy="45360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6553200" y="3987800"/>
            <a:ext cx="3058160" cy="279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Semantic Elements Extraction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pic>
        <p:nvPicPr>
          <p:cNvPr id="32" name="图片 31" descr="加工处理齿轮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86800" y="2650067"/>
            <a:ext cx="453600" cy="45360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8331200" y="3086947"/>
            <a:ext cx="1311487" cy="20785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Entity Pairing &amp; Matching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pic>
        <p:nvPicPr>
          <p:cNvPr id="36" name="图片 35" descr="数据库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956800" y="3429000"/>
            <a:ext cx="488950" cy="48895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9652000" y="4014470"/>
            <a:ext cx="1001607" cy="252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Structured Data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398000" y="2209800"/>
            <a:ext cx="1574377" cy="30395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Comparison Results in Image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553277" y="2921000"/>
            <a:ext cx="392430" cy="1985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6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...</a:t>
            </a:r>
            <a:endParaRPr lang="en-US" altLang="zh-CN" sz="16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pic>
        <p:nvPicPr>
          <p:cNvPr id="31" name="图片 30"/>
          <p:cNvPicPr/>
          <p:nvPr/>
        </p:nvPicPr>
        <p:blipFill>
          <a:blip r:embed="rId21"/>
          <a:stretch>
            <a:fillRect/>
          </a:stretch>
        </p:blipFill>
        <p:spPr>
          <a:xfrm>
            <a:off x="304800" y="1996863"/>
            <a:ext cx="1552800" cy="993600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</p:pic>
      <p:sp>
        <p:nvSpPr>
          <p:cNvPr id="44" name="文本框 43"/>
          <p:cNvSpPr txBox="1"/>
          <p:nvPr/>
        </p:nvSpPr>
        <p:spPr>
          <a:xfrm>
            <a:off x="254000" y="3006090"/>
            <a:ext cx="1611207" cy="2722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Sketch + Description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pic>
        <p:nvPicPr>
          <p:cNvPr id="45" name="图片 44" descr="产品模型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235623" y="2311400"/>
            <a:ext cx="453600" cy="453600"/>
          </a:xfrm>
          <a:prstGeom prst="rect">
            <a:avLst/>
          </a:prstGeom>
        </p:spPr>
      </p:pic>
      <p:pic>
        <p:nvPicPr>
          <p:cNvPr id="46" name="图片 45"/>
          <p:cNvPicPr/>
          <p:nvPr/>
        </p:nvPicPr>
        <p:blipFill>
          <a:blip r:embed="rId24"/>
          <a:stretch>
            <a:fillRect/>
          </a:stretch>
        </p:blipFill>
        <p:spPr>
          <a:xfrm>
            <a:off x="3146213" y="1969347"/>
            <a:ext cx="1552800" cy="993600"/>
          </a:xfrm>
          <a:prstGeom prst="rect">
            <a:avLst/>
          </a:prstGeom>
        </p:spPr>
      </p:pic>
      <p:cxnSp>
        <p:nvCxnSpPr>
          <p:cNvPr id="47" name="直接箭头连接符 46"/>
          <p:cNvCxnSpPr/>
          <p:nvPr/>
        </p:nvCxnSpPr>
        <p:spPr>
          <a:xfrm>
            <a:off x="1858433" y="2565400"/>
            <a:ext cx="376767" cy="0"/>
          </a:xfrm>
          <a:prstGeom prst="straightConnector1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2692400" y="2565400"/>
            <a:ext cx="457200" cy="0"/>
          </a:xfrm>
          <a:prstGeom prst="straightConnector1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1727200" y="3018367"/>
            <a:ext cx="1502410" cy="25442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Image-to-Image Model</a:t>
            </a:r>
            <a:endParaRPr lang="en-US" altLang="zh-CN" sz="1200" b="1">
              <a:solidFill>
                <a:schemeClr val="accent3">
                  <a:lumMod val="50000"/>
                </a:schemeClr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149600" y="3022600"/>
            <a:ext cx="1611207" cy="2722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Scenes Image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pic>
        <p:nvPicPr>
          <p:cNvPr id="51" name="图片 50" descr="聊天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726853" y="1397000"/>
            <a:ext cx="453600" cy="453600"/>
          </a:xfrm>
          <a:prstGeom prst="rect">
            <a:avLst/>
          </a:prstGeom>
        </p:spPr>
      </p:pic>
      <p:cxnSp>
        <p:nvCxnSpPr>
          <p:cNvPr id="52" name="曲线连接符 51"/>
          <p:cNvCxnSpPr>
            <a:stCxn id="7" idx="3"/>
            <a:endCxn id="10" idx="0"/>
          </p:cNvCxnSpPr>
          <p:nvPr/>
        </p:nvCxnSpPr>
        <p:spPr>
          <a:xfrm>
            <a:off x="4699000" y="839470"/>
            <a:ext cx="455507" cy="557530"/>
          </a:xfrm>
          <a:prstGeom prst="curvedConnector2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5380990" y="1900767"/>
            <a:ext cx="1611207" cy="2722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Native Expression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cxnSp>
        <p:nvCxnSpPr>
          <p:cNvPr id="55" name="直接箭头连接符 54"/>
          <p:cNvCxnSpPr/>
          <p:nvPr/>
        </p:nvCxnSpPr>
        <p:spPr>
          <a:xfrm>
            <a:off x="2692400" y="4343400"/>
            <a:ext cx="863600" cy="0"/>
          </a:xfrm>
          <a:prstGeom prst="straightConnector1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曲线连接符 55"/>
          <p:cNvCxnSpPr>
            <a:stCxn id="51" idx="3"/>
            <a:endCxn id="24" idx="0"/>
          </p:cNvCxnSpPr>
          <p:nvPr/>
        </p:nvCxnSpPr>
        <p:spPr>
          <a:xfrm>
            <a:off x="6180243" y="1623907"/>
            <a:ext cx="818727" cy="738293"/>
          </a:xfrm>
          <a:prstGeom prst="curvedConnector2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曲线连接符 56"/>
          <p:cNvCxnSpPr>
            <a:endCxn id="27" idx="2"/>
          </p:cNvCxnSpPr>
          <p:nvPr/>
        </p:nvCxnSpPr>
        <p:spPr>
          <a:xfrm flipV="1">
            <a:off x="4013200" y="3591137"/>
            <a:ext cx="2955713" cy="752263"/>
          </a:xfrm>
          <a:prstGeom prst="curvedConnector2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8" name="图片 57" descr="文字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65810" y="5257800"/>
            <a:ext cx="453600" cy="453600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336550" y="5715000"/>
            <a:ext cx="1446530" cy="280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Human Text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cxnSp>
        <p:nvCxnSpPr>
          <p:cNvPr id="60" name="曲线连接符 59"/>
          <p:cNvCxnSpPr>
            <a:stCxn id="58" idx="3"/>
            <a:endCxn id="23" idx="2"/>
          </p:cNvCxnSpPr>
          <p:nvPr/>
        </p:nvCxnSpPr>
        <p:spPr>
          <a:xfrm flipV="1">
            <a:off x="1219200" y="4866217"/>
            <a:ext cx="2573020" cy="618490"/>
          </a:xfrm>
          <a:prstGeom prst="curvedConnector2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1" name="图片 60" descr="文件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823200" y="3378200"/>
            <a:ext cx="453600" cy="453600"/>
          </a:xfrm>
          <a:prstGeom prst="rect">
            <a:avLst/>
          </a:prstGeom>
        </p:spPr>
      </p:pic>
      <p:cxnSp>
        <p:nvCxnSpPr>
          <p:cNvPr id="62" name="曲线连接符 61"/>
          <p:cNvCxnSpPr>
            <a:endCxn id="28" idx="1"/>
          </p:cNvCxnSpPr>
          <p:nvPr/>
        </p:nvCxnSpPr>
        <p:spPr>
          <a:xfrm rot="16200000">
            <a:off x="7257627" y="2142490"/>
            <a:ext cx="572347" cy="558800"/>
          </a:xfrm>
          <a:prstGeom prst="curvedConnector2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曲线连接符 62"/>
          <p:cNvCxnSpPr>
            <a:endCxn id="61" idx="1"/>
          </p:cNvCxnSpPr>
          <p:nvPr/>
        </p:nvCxnSpPr>
        <p:spPr>
          <a:xfrm rot="5400000" flipV="1">
            <a:off x="7303347" y="3085253"/>
            <a:ext cx="531707" cy="508000"/>
          </a:xfrm>
          <a:prstGeom prst="curvedConnector2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7572163" y="2362200"/>
            <a:ext cx="951653" cy="2878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chemeClr val="tx1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From LLMs</a:t>
            </a:r>
            <a:endParaRPr lang="en-US" altLang="zh-CN" sz="1200" b="1">
              <a:solidFill>
                <a:schemeClr val="tx1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444740" y="3790315"/>
            <a:ext cx="1341755" cy="300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chemeClr val="tx1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From Human</a:t>
            </a:r>
            <a:endParaRPr lang="en-US" altLang="zh-CN" sz="1200" b="1">
              <a:solidFill>
                <a:schemeClr val="tx1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cxnSp>
        <p:nvCxnSpPr>
          <p:cNvPr id="66" name="曲线连接符 65"/>
          <p:cNvCxnSpPr>
            <a:stCxn id="28" idx="3"/>
            <a:endCxn id="32" idx="0"/>
          </p:cNvCxnSpPr>
          <p:nvPr/>
        </p:nvCxnSpPr>
        <p:spPr>
          <a:xfrm>
            <a:off x="8276590" y="2135717"/>
            <a:ext cx="637117" cy="514350"/>
          </a:xfrm>
          <a:prstGeom prst="curvedConnector2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曲线连接符 66"/>
          <p:cNvCxnSpPr>
            <a:endCxn id="32" idx="2"/>
          </p:cNvCxnSpPr>
          <p:nvPr/>
        </p:nvCxnSpPr>
        <p:spPr>
          <a:xfrm flipV="1">
            <a:off x="8229600" y="3103457"/>
            <a:ext cx="684107" cy="530013"/>
          </a:xfrm>
          <a:prstGeom prst="curvedConnector2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8" name="图片 67"/>
          <p:cNvPicPr/>
          <p:nvPr/>
        </p:nvPicPr>
        <p:blipFill>
          <a:blip r:embed="rId31"/>
          <a:stretch>
            <a:fillRect/>
          </a:stretch>
        </p:blipFill>
        <p:spPr>
          <a:xfrm>
            <a:off x="9392920" y="1179407"/>
            <a:ext cx="1552800" cy="993600"/>
          </a:xfrm>
          <a:prstGeom prst="rect">
            <a:avLst/>
          </a:prstGeom>
        </p:spPr>
      </p:pic>
      <p:cxnSp>
        <p:nvCxnSpPr>
          <p:cNvPr id="69" name="曲线连接符 68"/>
          <p:cNvCxnSpPr>
            <a:stCxn id="32" idx="0"/>
            <a:endCxn id="68" idx="1"/>
          </p:cNvCxnSpPr>
          <p:nvPr/>
        </p:nvCxnSpPr>
        <p:spPr>
          <a:xfrm rot="16200000">
            <a:off x="8666480" y="1923627"/>
            <a:ext cx="973667" cy="479213"/>
          </a:xfrm>
          <a:prstGeom prst="curvedConnector2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曲线连接符 69"/>
          <p:cNvCxnSpPr>
            <a:endCxn id="39" idx="1"/>
          </p:cNvCxnSpPr>
          <p:nvPr/>
        </p:nvCxnSpPr>
        <p:spPr>
          <a:xfrm rot="5400000" flipV="1">
            <a:off x="8840470" y="3329093"/>
            <a:ext cx="994410" cy="628650"/>
          </a:xfrm>
          <a:prstGeom prst="curvedConnector2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右大括号 72"/>
          <p:cNvSpPr/>
          <p:nvPr/>
        </p:nvSpPr>
        <p:spPr>
          <a:xfrm>
            <a:off x="10826750" y="404283"/>
            <a:ext cx="450850" cy="5658697"/>
          </a:xfrm>
          <a:prstGeom prst="rightBrace">
            <a:avLst>
              <a:gd name="adj1" fmla="val 8333"/>
              <a:gd name="adj2" fmla="val 50147"/>
            </a:avLst>
          </a:prstGeom>
          <a:ln w="28575" cmpd="sng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pic>
        <p:nvPicPr>
          <p:cNvPr id="74" name="图片 73" descr="网页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379200" y="2870200"/>
            <a:ext cx="609600" cy="609600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11125200" y="3479800"/>
            <a:ext cx="1129030" cy="250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Web Application with 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  <a:p>
            <a:pPr algn="ctr"/>
            <a:r>
              <a: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rPr>
              <a:t>AI-driven Feedback</a:t>
            </a:r>
            <a:endParaRPr lang="en-US" altLang="zh-CN" sz="1200" b="1">
              <a:solidFill>
                <a:srgbClr val="231F20"/>
              </a:solidFill>
              <a:latin typeface="Comic Sans MS" panose="030F0702030302020204" charset="0"/>
              <a:ea typeface="可画甜心体 2" panose="00020600040101010101" charset="-122"/>
              <a:cs typeface="Comic Sans MS" panose="030F0702030302020204" charset="0"/>
              <a:sym typeface="可画甜心体 2" panose="00020600040101010101" charset="-122"/>
            </a:endParaRPr>
          </a:p>
        </p:txBody>
      </p:sp>
      <p:cxnSp>
        <p:nvCxnSpPr>
          <p:cNvPr id="12" name="直接箭头连接符 11"/>
          <p:cNvCxnSpPr>
            <a:stCxn id="46" idx="0"/>
          </p:cNvCxnSpPr>
          <p:nvPr/>
        </p:nvCxnSpPr>
        <p:spPr>
          <a:xfrm flipH="1" flipV="1">
            <a:off x="3098800" y="1701800"/>
            <a:ext cx="823807" cy="267547"/>
          </a:xfrm>
          <a:prstGeom prst="straightConnector1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154295" y="5711190"/>
            <a:ext cx="3241675" cy="615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600" b="1" i="1" u="sng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Pipeline Draft</a:t>
            </a:r>
            <a:endParaRPr lang="en-US" altLang="zh-CN" sz="3600" b="1" i="1" u="sng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</p:txBody>
      </p:sp>
      <p:cxnSp>
        <p:nvCxnSpPr>
          <p:cNvPr id="15" name="曲线连接符 14"/>
          <p:cNvCxnSpPr/>
          <p:nvPr/>
        </p:nvCxnSpPr>
        <p:spPr>
          <a:xfrm rot="16200000">
            <a:off x="3536950" y="2710815"/>
            <a:ext cx="2131060" cy="1132840"/>
          </a:xfrm>
          <a:prstGeom prst="curvedConnector3">
            <a:avLst>
              <a:gd name="adj1" fmla="val 49970"/>
            </a:avLst>
          </a:prstGeom>
          <a:ln w="28575" cmpd="sng">
            <a:solidFill>
              <a:schemeClr val="accent3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6" name="组合 75"/>
          <p:cNvGrpSpPr/>
          <p:nvPr/>
        </p:nvGrpSpPr>
        <p:grpSpPr>
          <a:xfrm>
            <a:off x="254000" y="533400"/>
            <a:ext cx="5001260" cy="1667510"/>
            <a:chOff x="600" y="809"/>
            <a:chExt cx="10822" cy="3389"/>
          </a:xfrm>
        </p:grpSpPr>
        <p:pic>
          <p:nvPicPr>
            <p:cNvPr id="2" name="图片 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20" y="809"/>
              <a:ext cx="3670" cy="2345"/>
            </a:xfrm>
            <a:prstGeom prst="rect">
              <a:avLst/>
            </a:prstGeom>
            <a:effectLst>
              <a:softEdge rad="12700"/>
            </a:effectLst>
          </p:spPr>
        </p:pic>
        <p:pic>
          <p:nvPicPr>
            <p:cNvPr id="3" name="图片 2" descr="电脑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80" y="1500"/>
              <a:ext cx="1072" cy="107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600" y="3154"/>
              <a:ext cx="3806" cy="104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solidFill>
                    <a:srgbClr val="231F20"/>
                  </a:solidFill>
                  <a:latin typeface="Comic Sans MS" panose="030F0702030302020204" charset="0"/>
                  <a:ea typeface="可画甜心体 2" panose="00020600040101010101" charset="-122"/>
                  <a:cs typeface="Comic Sans MS" panose="030F0702030302020204" charset="0"/>
                  <a:sym typeface="可画甜心体 2" panose="00020600040101010101" charset="-122"/>
                </a:rPr>
                <a:t>Photo Image/Video Input</a:t>
              </a:r>
              <a:endPara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endParaRPr>
            </a:p>
          </p:txBody>
        </p:sp>
        <p:cxnSp>
          <p:nvCxnSpPr>
            <p:cNvPr id="5" name="直接箭头连接符 4"/>
            <p:cNvCxnSpPr>
              <a:stCxn id="2" idx="3"/>
            </p:cNvCxnSpPr>
            <p:nvPr/>
          </p:nvCxnSpPr>
          <p:spPr>
            <a:xfrm>
              <a:off x="4390" y="1982"/>
              <a:ext cx="890" cy="0"/>
            </a:xfrm>
            <a:prstGeom prst="straightConnector1">
              <a:avLst/>
            </a:prstGeom>
            <a:ln w="28575" cmpd="sng">
              <a:solidFill>
                <a:schemeClr val="accent3">
                  <a:lumMod val="50000"/>
                </a:schemeClr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3840" y="3156"/>
              <a:ext cx="3961" cy="60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solidFill>
                    <a:schemeClr val="accent3">
                      <a:lumMod val="50000"/>
                    </a:schemeClr>
                  </a:solidFill>
                  <a:latin typeface="Comic Sans MS" panose="030F0702030302020204" charset="0"/>
                  <a:ea typeface="可画甜心体 2" panose="00020600040101010101" charset="-122"/>
                  <a:cs typeface="Comic Sans MS" panose="030F0702030302020204" charset="0"/>
                  <a:sym typeface="可画甜心体 2" panose="00020600040101010101" charset="-122"/>
                </a:rPr>
                <a:t>Computer Vision Grounding Model</a:t>
              </a:r>
              <a:endParaRPr lang="en-US" altLang="zh-CN" sz="1200" b="1">
                <a:solidFill>
                  <a:schemeClr val="accent3">
                    <a:lumMod val="50000"/>
                  </a:schemeClr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endParaRPr>
            </a:p>
          </p:txBody>
        </p:sp>
        <p:pic>
          <p:nvPicPr>
            <p:cNvPr id="7" name="图片 6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7432" y="809"/>
              <a:ext cx="3668" cy="2347"/>
            </a:xfrm>
            <a:prstGeom prst="rect">
              <a:avLst/>
            </a:prstGeom>
          </p:spPr>
        </p:pic>
        <p:cxnSp>
          <p:nvCxnSpPr>
            <p:cNvPr id="8" name="直接箭头连接符 7"/>
            <p:cNvCxnSpPr/>
            <p:nvPr/>
          </p:nvCxnSpPr>
          <p:spPr>
            <a:xfrm>
              <a:off x="6352" y="1980"/>
              <a:ext cx="1080" cy="0"/>
            </a:xfrm>
            <a:prstGeom prst="straightConnector1">
              <a:avLst/>
            </a:prstGeom>
            <a:ln w="28575" cmpd="sng">
              <a:solidFill>
                <a:schemeClr val="accent3">
                  <a:lumMod val="50000"/>
                </a:schemeClr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7154" y="3180"/>
              <a:ext cx="4269" cy="68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solidFill>
                    <a:srgbClr val="231F20"/>
                  </a:solidFill>
                  <a:latin typeface="Comic Sans MS" panose="030F0702030302020204" charset="0"/>
                  <a:ea typeface="可画甜心体 2" panose="00020600040101010101" charset="-122"/>
                  <a:cs typeface="Comic Sans MS" panose="030F0702030302020204" charset="0"/>
                  <a:sym typeface="可画甜心体 2" panose="00020600040101010101" charset="-122"/>
                </a:rPr>
                <a:t>Grounding Labels</a:t>
              </a:r>
              <a:endPara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257387" y="2768600"/>
            <a:ext cx="5001600" cy="1668000"/>
            <a:chOff x="600" y="4652"/>
            <a:chExt cx="10646" cy="3130"/>
          </a:xfrm>
        </p:grpSpPr>
        <p:pic>
          <p:nvPicPr>
            <p:cNvPr id="31" name="图片 30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720" y="4717"/>
              <a:ext cx="3668" cy="2347"/>
            </a:xfrm>
            <a:prstGeom prst="rect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</p:pic>
        <p:sp>
          <p:nvSpPr>
            <p:cNvPr id="44" name="文本框 43"/>
            <p:cNvSpPr txBox="1"/>
            <p:nvPr/>
          </p:nvSpPr>
          <p:spPr>
            <a:xfrm>
              <a:off x="600" y="7101"/>
              <a:ext cx="3806" cy="64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solidFill>
                    <a:srgbClr val="231F20"/>
                  </a:solidFill>
                  <a:latin typeface="Comic Sans MS" panose="030F0702030302020204" charset="0"/>
                  <a:ea typeface="可画甜心体 2" panose="00020600040101010101" charset="-122"/>
                  <a:cs typeface="Comic Sans MS" panose="030F0702030302020204" charset="0"/>
                  <a:sym typeface="可画甜心体 2" panose="00020600040101010101" charset="-122"/>
                </a:rPr>
                <a:t>Sketch + Description</a:t>
              </a:r>
              <a:endPara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endParaRPr>
            </a:p>
          </p:txBody>
        </p:sp>
        <p:pic>
          <p:nvPicPr>
            <p:cNvPr id="45" name="图片 44" descr="产品模型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81" y="5460"/>
              <a:ext cx="1071" cy="1071"/>
            </a:xfrm>
            <a:prstGeom prst="rect">
              <a:avLst/>
            </a:prstGeom>
          </p:spPr>
        </p:pic>
        <p:pic>
          <p:nvPicPr>
            <p:cNvPr id="46" name="图片 45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7432" y="4652"/>
              <a:ext cx="3668" cy="2347"/>
            </a:xfrm>
            <a:prstGeom prst="rect">
              <a:avLst/>
            </a:prstGeom>
          </p:spPr>
        </p:pic>
        <p:cxnSp>
          <p:nvCxnSpPr>
            <p:cNvPr id="47" name="直接箭头连接符 46"/>
            <p:cNvCxnSpPr/>
            <p:nvPr/>
          </p:nvCxnSpPr>
          <p:spPr>
            <a:xfrm>
              <a:off x="4390" y="6060"/>
              <a:ext cx="890" cy="0"/>
            </a:xfrm>
            <a:prstGeom prst="straightConnector1">
              <a:avLst/>
            </a:prstGeom>
            <a:ln w="28575" cmpd="sng">
              <a:solidFill>
                <a:schemeClr val="accent3">
                  <a:lumMod val="50000"/>
                </a:schemeClr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>
              <a:off x="6360" y="6060"/>
              <a:ext cx="1080" cy="0"/>
            </a:xfrm>
            <a:prstGeom prst="straightConnector1">
              <a:avLst/>
            </a:prstGeom>
            <a:ln w="28575" cmpd="sng">
              <a:solidFill>
                <a:schemeClr val="accent3">
                  <a:lumMod val="50000"/>
                </a:schemeClr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9" name="文本框 48"/>
            <p:cNvSpPr txBox="1"/>
            <p:nvPr/>
          </p:nvSpPr>
          <p:spPr>
            <a:xfrm>
              <a:off x="4080" y="7130"/>
              <a:ext cx="3549" cy="60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solidFill>
                    <a:schemeClr val="accent3">
                      <a:lumMod val="50000"/>
                    </a:schemeClr>
                  </a:solidFill>
                  <a:latin typeface="Comic Sans MS" panose="030F0702030302020204" charset="0"/>
                  <a:ea typeface="可画甜心体 2" panose="00020600040101010101" charset="-122"/>
                  <a:cs typeface="Comic Sans MS" panose="030F0702030302020204" charset="0"/>
                  <a:sym typeface="可画甜心体 2" panose="00020600040101010101" charset="-122"/>
                </a:rPr>
                <a:t>Image-to-Image Model</a:t>
              </a:r>
              <a:endParaRPr lang="en-US" altLang="zh-CN" sz="1200" b="1">
                <a:solidFill>
                  <a:schemeClr val="accent3">
                    <a:lumMod val="50000"/>
                  </a:schemeClr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7440" y="7140"/>
              <a:ext cx="3806" cy="64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solidFill>
                    <a:srgbClr val="231F20"/>
                  </a:solidFill>
                  <a:latin typeface="Comic Sans MS" panose="030F0702030302020204" charset="0"/>
                  <a:ea typeface="可画甜心体 2" panose="00020600040101010101" charset="-122"/>
                  <a:cs typeface="Comic Sans MS" panose="030F0702030302020204" charset="0"/>
                  <a:sym typeface="可画甜心体 2" panose="00020600040101010101" charset="-122"/>
                </a:rPr>
                <a:t>Scenes Image</a:t>
              </a:r>
              <a:endPara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355600" y="5207423"/>
            <a:ext cx="5001683" cy="988800"/>
            <a:chOff x="720" y="8710"/>
            <a:chExt cx="10012" cy="2032"/>
          </a:xfrm>
        </p:grpSpPr>
        <p:pic>
          <p:nvPicPr>
            <p:cNvPr id="16" name="图片 15" descr="人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800" y="8820"/>
              <a:ext cx="1071" cy="1071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720" y="10080"/>
              <a:ext cx="3417" cy="66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solidFill>
                    <a:srgbClr val="231F20"/>
                  </a:solidFill>
                  <a:latin typeface="Comic Sans MS" panose="030F0702030302020204" charset="0"/>
                  <a:ea typeface="可画甜心体 2" panose="00020600040101010101" charset="-122"/>
                  <a:cs typeface="Comic Sans MS" panose="030F0702030302020204" charset="0"/>
                  <a:sym typeface="可画甜心体 2" panose="00020600040101010101" charset="-122"/>
                </a:rPr>
                <a:t>Human Speech</a:t>
              </a:r>
              <a:endPara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endParaRPr>
            </a:p>
          </p:txBody>
        </p:sp>
        <p:pic>
          <p:nvPicPr>
            <p:cNvPr id="18" name="图片 17" descr="模型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280" y="8710"/>
              <a:ext cx="1071" cy="1071"/>
            </a:xfrm>
            <a:prstGeom prst="rect">
              <a:avLst/>
            </a:prstGeom>
          </p:spPr>
        </p:pic>
        <p:cxnSp>
          <p:nvCxnSpPr>
            <p:cNvPr id="19" name="直接箭头连接符 18"/>
            <p:cNvCxnSpPr/>
            <p:nvPr/>
          </p:nvCxnSpPr>
          <p:spPr>
            <a:xfrm>
              <a:off x="2871" y="9300"/>
              <a:ext cx="2660" cy="0"/>
            </a:xfrm>
            <a:prstGeom prst="straightConnector1">
              <a:avLst/>
            </a:prstGeom>
            <a:ln w="28575" cmpd="sng">
              <a:solidFill>
                <a:schemeClr val="accent3">
                  <a:lumMod val="50000"/>
                </a:schemeClr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4080" y="10080"/>
              <a:ext cx="3417" cy="66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solidFill>
                    <a:schemeClr val="accent3">
                      <a:lumMod val="50000"/>
                    </a:schemeClr>
                  </a:solidFill>
                  <a:latin typeface="Comic Sans MS" panose="030F0702030302020204" charset="0"/>
                  <a:ea typeface="可画甜心体 2" panose="00020600040101010101" charset="-122"/>
                  <a:cs typeface="Comic Sans MS" panose="030F0702030302020204" charset="0"/>
                  <a:sym typeface="可画甜心体 2" panose="00020600040101010101" charset="-122"/>
                </a:rPr>
                <a:t>Speech Processing Model</a:t>
              </a:r>
              <a:endParaRPr lang="en-US" altLang="zh-CN" sz="1200" b="1">
                <a:solidFill>
                  <a:schemeClr val="accent3">
                    <a:lumMod val="50000"/>
                  </a:schemeClr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endParaRPr>
            </a:p>
          </p:txBody>
        </p:sp>
        <p:pic>
          <p:nvPicPr>
            <p:cNvPr id="21" name="图片 20" descr="字体大小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610" y="8710"/>
              <a:ext cx="1071" cy="1071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/>
          </p:nvSpPr>
          <p:spPr>
            <a:xfrm>
              <a:off x="7680" y="10080"/>
              <a:ext cx="3052" cy="51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solidFill>
                    <a:srgbClr val="231F20"/>
                  </a:solidFill>
                  <a:latin typeface="Comic Sans MS" panose="030F0702030302020204" charset="0"/>
                  <a:ea typeface="可画甜心体 2" panose="00020600040101010101" charset="-122"/>
                  <a:cs typeface="Comic Sans MS" panose="030F0702030302020204" charset="0"/>
                  <a:sym typeface="可画甜心体 2" panose="00020600040101010101" charset="-122"/>
                </a:rPr>
                <a:t>ESL Expression</a:t>
              </a:r>
              <a:endParaRPr lang="en-US" altLang="zh-CN" sz="1200" b="1">
                <a:solidFill>
                  <a:srgbClr val="231F20"/>
                </a:solidFill>
                <a:latin typeface="Comic Sans MS" panose="030F0702030302020204" charset="0"/>
                <a:ea typeface="可画甜心体 2" panose="00020600040101010101" charset="-122"/>
                <a:cs typeface="Comic Sans MS" panose="030F0702030302020204" charset="0"/>
                <a:sym typeface="可画甜心体 2" panose="00020600040101010101" charset="-122"/>
              </a:endParaRPr>
            </a:p>
          </p:txBody>
        </p:sp>
        <p:cxnSp>
          <p:nvCxnSpPr>
            <p:cNvPr id="55" name="直接箭头连接符 54"/>
            <p:cNvCxnSpPr/>
            <p:nvPr/>
          </p:nvCxnSpPr>
          <p:spPr>
            <a:xfrm flipV="1">
              <a:off x="6360" y="9300"/>
              <a:ext cx="2250" cy="0"/>
            </a:xfrm>
            <a:prstGeom prst="straightConnector1">
              <a:avLst/>
            </a:prstGeom>
            <a:ln w="28575" cmpd="sng">
              <a:solidFill>
                <a:schemeClr val="accent3">
                  <a:lumMod val="50000"/>
                </a:schemeClr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87" name="文本框 86"/>
          <p:cNvSpPr txBox="1"/>
          <p:nvPr/>
        </p:nvSpPr>
        <p:spPr>
          <a:xfrm>
            <a:off x="812800" y="2057400"/>
            <a:ext cx="3815080" cy="3331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135" b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可画甜心体 2" panose="00020600040101010101" charset="-122"/>
                <a:cs typeface="Arial" panose="020B0604020202020204" pitchFamily="34" charset="0"/>
                <a:sym typeface="可画甜心体 2" panose="00020600040101010101" charset="-122"/>
              </a:rPr>
              <a:t>Computer Vision Grounding</a:t>
            </a:r>
            <a:endParaRPr lang="en-US" altLang="zh-CN" sz="2135" b="1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可画甜心体 2" panose="00020600040101010101" charset="-122"/>
              <a:cs typeface="Arial" panose="020B0604020202020204" pitchFamily="34" charset="0"/>
              <a:sym typeface="可画甜心体 2" panose="00020600040101010101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487170" y="4445000"/>
            <a:ext cx="2561590" cy="349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135" b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可画甜心体 2" panose="00020600040101010101" charset="-122"/>
                <a:cs typeface="Arial" panose="020B0604020202020204" pitchFamily="34" charset="0"/>
                <a:sym typeface="可画甜心体 2" panose="00020600040101010101" charset="-122"/>
              </a:rPr>
              <a:t>Image Generation</a:t>
            </a:r>
            <a:endParaRPr lang="en-US" altLang="zh-CN" sz="2135" b="1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可画甜心体 2" panose="00020600040101010101" charset="-122"/>
              <a:cs typeface="Arial" panose="020B0604020202020204" pitchFamily="34" charset="0"/>
              <a:sym typeface="可画甜心体 2" panose="00020600040101010101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487170" y="6273800"/>
            <a:ext cx="2949575" cy="3238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135" b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可画甜心体 2" panose="00020600040101010101" charset="-122"/>
                <a:cs typeface="Arial" panose="020B0604020202020204" pitchFamily="34" charset="0"/>
                <a:sym typeface="可画甜心体 2" panose="00020600040101010101" charset="-122"/>
              </a:rPr>
              <a:t>Speech Recognition</a:t>
            </a:r>
            <a:endParaRPr lang="en-US" altLang="zh-CN" sz="2135" b="1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可画甜心体 2" panose="00020600040101010101" charset="-122"/>
              <a:cs typeface="Arial" panose="020B0604020202020204" pitchFamily="34" charset="0"/>
              <a:sym typeface="可画甜心体 2" panose="00020600040101010101" charset="-122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152400" y="330200"/>
            <a:ext cx="5179483" cy="2122170"/>
          </a:xfrm>
          <a:prstGeom prst="roundRect">
            <a:avLst/>
          </a:prstGeom>
          <a:noFill/>
          <a:ln w="28575" cmpd="sng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94" name="圆角矩形 93"/>
          <p:cNvSpPr/>
          <p:nvPr/>
        </p:nvSpPr>
        <p:spPr>
          <a:xfrm>
            <a:off x="203200" y="2616200"/>
            <a:ext cx="5154083" cy="2227157"/>
          </a:xfrm>
          <a:prstGeom prst="roundRect">
            <a:avLst/>
          </a:prstGeom>
          <a:noFill/>
          <a:ln w="28575" cmpd="sng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95" name="圆角矩形 94"/>
          <p:cNvSpPr/>
          <p:nvPr/>
        </p:nvSpPr>
        <p:spPr>
          <a:xfrm>
            <a:off x="216747" y="5039783"/>
            <a:ext cx="5137150" cy="1661583"/>
          </a:xfrm>
          <a:prstGeom prst="roundRect">
            <a:avLst/>
          </a:prstGeom>
          <a:noFill/>
          <a:ln w="28575" cmpd="sng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14" name="文本框 13"/>
          <p:cNvSpPr txBox="1"/>
          <p:nvPr/>
        </p:nvSpPr>
        <p:spPr>
          <a:xfrm>
            <a:off x="5527040" y="330200"/>
            <a:ext cx="6096000" cy="2122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Wei Ren 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(video input is extension so can first try image format) 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654040" y="2720975"/>
            <a:ext cx="6096000" cy="2122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Zhu Lu 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 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654040" y="5039995"/>
            <a:ext cx="6096000" cy="2122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Yifan Bao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 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 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793355" y="2972435"/>
            <a:ext cx="3699510" cy="615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600" b="1" i="1" u="sng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Work Allocation</a:t>
            </a:r>
            <a:endParaRPr lang="en-US" altLang="zh-CN" sz="3600" b="1" i="1" u="sng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" name="组合 23"/>
          <p:cNvGrpSpPr/>
          <p:nvPr/>
        </p:nvGrpSpPr>
        <p:grpSpPr>
          <a:xfrm>
            <a:off x="184150" y="231140"/>
            <a:ext cx="5063490" cy="1663700"/>
            <a:chOff x="10323" y="7080"/>
            <a:chExt cx="7974" cy="2620"/>
          </a:xfrm>
        </p:grpSpPr>
        <p:grpSp>
          <p:nvGrpSpPr>
            <p:cNvPr id="83" name="组合 82"/>
            <p:cNvGrpSpPr/>
            <p:nvPr/>
          </p:nvGrpSpPr>
          <p:grpSpPr>
            <a:xfrm>
              <a:off x="10323" y="7320"/>
              <a:ext cx="7877" cy="1512"/>
              <a:chOff x="423" y="14220"/>
              <a:chExt cx="10424" cy="1742"/>
            </a:xfrm>
          </p:grpSpPr>
          <p:pic>
            <p:nvPicPr>
              <p:cNvPr id="74" name="图片 73" descr="网页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289" y="14220"/>
                <a:ext cx="1071" cy="1071"/>
              </a:xfrm>
              <a:prstGeom prst="rect">
                <a:avLst/>
              </a:prstGeom>
            </p:spPr>
          </p:pic>
          <p:grpSp>
            <p:nvGrpSpPr>
              <p:cNvPr id="81" name="组合 80"/>
              <p:cNvGrpSpPr/>
              <p:nvPr/>
            </p:nvGrpSpPr>
            <p:grpSpPr>
              <a:xfrm>
                <a:off x="423" y="14220"/>
                <a:ext cx="10424" cy="1742"/>
                <a:chOff x="423" y="14220"/>
                <a:chExt cx="10424" cy="1742"/>
              </a:xfrm>
            </p:grpSpPr>
            <p:pic>
              <p:nvPicPr>
                <p:cNvPr id="35" name="图片 34" descr="用户反馈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80" y="14220"/>
                  <a:ext cx="1071" cy="1071"/>
                </a:xfrm>
                <a:prstGeom prst="rect">
                  <a:avLst/>
                </a:prstGeom>
              </p:spPr>
            </p:pic>
            <p:sp>
              <p:nvSpPr>
                <p:cNvPr id="41" name="文本框 40"/>
                <p:cNvSpPr txBox="1"/>
                <p:nvPr/>
              </p:nvSpPr>
              <p:spPr>
                <a:xfrm>
                  <a:off x="423" y="15300"/>
                  <a:ext cx="3417" cy="66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noAutofit/>
                </a:bodyPr>
                <a:p>
                  <a:pPr algn="ctr"/>
                  <a:r>
                    <a:rPr lang="en-US" altLang="zh-CN" sz="1200" b="1">
                      <a:solidFill>
                        <a:srgbClr val="231F20"/>
                      </a:solidFill>
                      <a:latin typeface="Comic Sans MS" panose="030F0702030302020204" charset="0"/>
                      <a:ea typeface="可画甜心体 2" panose="00020600040101010101" charset="-122"/>
                      <a:cs typeface="Comic Sans MS" panose="030F0702030302020204" charset="0"/>
                      <a:sym typeface="可画甜心体 2" panose="00020600040101010101" charset="-122"/>
                    </a:rPr>
                    <a:t>ESL Users</a:t>
                  </a:r>
                  <a:endParaRPr lang="en-US" altLang="zh-CN" sz="1200" b="1">
                    <a:solidFill>
                      <a:srgbClr val="231F20"/>
                    </a:solidFill>
                    <a:latin typeface="Comic Sans MS" panose="030F0702030302020204" charset="0"/>
                    <a:ea typeface="可画甜心体 2" panose="00020600040101010101" charset="-122"/>
                    <a:cs typeface="Comic Sans MS" panose="030F0702030302020204" charset="0"/>
                    <a:sym typeface="可画甜心体 2" panose="00020600040101010101" charset="-122"/>
                  </a:endParaRPr>
                </a:p>
              </p:txBody>
            </p:sp>
            <p:grpSp>
              <p:nvGrpSpPr>
                <p:cNvPr id="80" name="组合 79"/>
                <p:cNvGrpSpPr/>
                <p:nvPr/>
              </p:nvGrpSpPr>
              <p:grpSpPr>
                <a:xfrm>
                  <a:off x="2629" y="14322"/>
                  <a:ext cx="8219" cy="1640"/>
                  <a:chOff x="2629" y="14322"/>
                  <a:chExt cx="8219" cy="1640"/>
                </a:xfrm>
              </p:grpSpPr>
              <p:sp>
                <p:nvSpPr>
                  <p:cNvPr id="33" name="文本框 32"/>
                  <p:cNvSpPr txBox="1"/>
                  <p:nvPr/>
                </p:nvSpPr>
                <p:spPr>
                  <a:xfrm>
                    <a:off x="3960" y="15291"/>
                    <a:ext cx="3774" cy="51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p>
                    <a:pPr algn="ctr"/>
                    <a:r>
                      <a:rPr lang="en-US" altLang="zh-CN" sz="1200" b="1">
                        <a:solidFill>
                          <a:schemeClr val="accent3">
                            <a:lumMod val="50000"/>
                          </a:schemeClr>
                        </a:solidFill>
                        <a:latin typeface="Comic Sans MS" panose="030F0702030302020204" charset="0"/>
                        <a:ea typeface="可画甜心体 2" panose="00020600040101010101" charset="-122"/>
                        <a:cs typeface="Comic Sans MS" panose="030F0702030302020204" charset="0"/>
                        <a:sym typeface="可画甜心体 2" panose="00020600040101010101" charset="-122"/>
                      </a:rPr>
                      <a:t>Web Application</a:t>
                    </a:r>
                    <a:endParaRPr lang="en-US" altLang="zh-CN" sz="1200" b="1">
                      <a:solidFill>
                        <a:schemeClr val="accent3">
                          <a:lumMod val="50000"/>
                        </a:schemeClr>
                      </a:solidFill>
                      <a:latin typeface="Comic Sans MS" panose="030F0702030302020204" charset="0"/>
                      <a:ea typeface="可画甜心体 2" panose="00020600040101010101" charset="-122"/>
                      <a:cs typeface="Comic Sans MS" panose="030F0702030302020204" charset="0"/>
                      <a:sym typeface="可画甜心体 2" panose="00020600040101010101" charset="-122"/>
                    </a:endParaRPr>
                  </a:p>
                </p:txBody>
              </p:sp>
              <p:cxnSp>
                <p:nvCxnSpPr>
                  <p:cNvPr id="37" name="直接箭头连接符 36"/>
                  <p:cNvCxnSpPr/>
                  <p:nvPr/>
                </p:nvCxnSpPr>
                <p:spPr>
                  <a:xfrm>
                    <a:off x="2629" y="14820"/>
                    <a:ext cx="2660" cy="0"/>
                  </a:xfrm>
                  <a:prstGeom prst="straightConnector1">
                    <a:avLst/>
                  </a:prstGeom>
                  <a:ln w="28575" cmpd="sng">
                    <a:solidFill>
                      <a:schemeClr val="accent3">
                        <a:lumMod val="50000"/>
                      </a:schemeClr>
                    </a:solidFill>
                    <a:prstDash val="sysDash"/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43" name="图片 42" descr="赞同"/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601" y="14322"/>
                    <a:ext cx="1071" cy="1071"/>
                  </a:xfrm>
                  <a:prstGeom prst="rect">
                    <a:avLst/>
                  </a:prstGeom>
                </p:spPr>
              </p:pic>
              <p:cxnSp>
                <p:nvCxnSpPr>
                  <p:cNvPr id="71" name="直接箭头连接符 70"/>
                  <p:cNvCxnSpPr/>
                  <p:nvPr/>
                </p:nvCxnSpPr>
                <p:spPr>
                  <a:xfrm flipV="1">
                    <a:off x="6360" y="14820"/>
                    <a:ext cx="2250" cy="0"/>
                  </a:xfrm>
                  <a:prstGeom prst="straightConnector1">
                    <a:avLst/>
                  </a:prstGeom>
                  <a:ln w="28575" cmpd="sng">
                    <a:solidFill>
                      <a:schemeClr val="accent3">
                        <a:lumMod val="50000"/>
                      </a:schemeClr>
                    </a:solidFill>
                    <a:prstDash val="sysDash"/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" name="文本框 71"/>
                  <p:cNvSpPr txBox="1"/>
                  <p:nvPr/>
                </p:nvSpPr>
                <p:spPr>
                  <a:xfrm>
                    <a:off x="7432" y="15300"/>
                    <a:ext cx="3417" cy="66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p>
                    <a:pPr algn="ctr"/>
                    <a:r>
                      <a:rPr lang="en-US" altLang="zh-CN" sz="1200" b="1">
                        <a:solidFill>
                          <a:srgbClr val="231F20"/>
                        </a:solidFill>
                        <a:latin typeface="Comic Sans MS" panose="030F0702030302020204" charset="0"/>
                        <a:ea typeface="可画甜心体 2" panose="00020600040101010101" charset="-122"/>
                        <a:cs typeface="Comic Sans MS" panose="030F0702030302020204" charset="0"/>
                        <a:sym typeface="可画甜心体 2" panose="00020600040101010101" charset="-122"/>
                      </a:rPr>
                      <a:t>Feedback</a:t>
                    </a:r>
                    <a:endParaRPr lang="en-US" altLang="zh-CN" sz="1200" b="1">
                      <a:solidFill>
                        <a:srgbClr val="231F20"/>
                      </a:solidFill>
                      <a:latin typeface="Comic Sans MS" panose="030F0702030302020204" charset="0"/>
                      <a:ea typeface="可画甜心体 2" panose="00020600040101010101" charset="-122"/>
                      <a:cs typeface="Comic Sans MS" panose="030F0702030302020204" charset="0"/>
                      <a:sym typeface="可画甜心体 2" panose="00020600040101010101" charset="-122"/>
                    </a:endParaRPr>
                  </a:p>
                </p:txBody>
              </p:sp>
            </p:grpSp>
          </p:grpSp>
        </p:grpSp>
        <p:sp>
          <p:nvSpPr>
            <p:cNvPr id="91" name="文本框 90"/>
            <p:cNvSpPr txBox="1"/>
            <p:nvPr/>
          </p:nvSpPr>
          <p:spPr>
            <a:xfrm>
              <a:off x="11360" y="8833"/>
              <a:ext cx="6529" cy="56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2135" b="1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可画甜心体 2" panose="00020600040101010101" charset="-122"/>
                  <a:cs typeface="Arial" panose="020B0604020202020204" pitchFamily="34" charset="0"/>
                  <a:sym typeface="可画甜心体 2" panose="00020600040101010101" charset="-122"/>
                </a:rPr>
                <a:t>Web Application Development</a:t>
              </a:r>
              <a:endParaRPr lang="en-US" altLang="zh-CN" sz="2135" b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可画甜心体 2" panose="00020600040101010101" charset="-122"/>
                <a:cs typeface="Arial" panose="020B0604020202020204" pitchFamily="34" charset="0"/>
                <a:sym typeface="可画甜心体 2" panose="00020600040101010101" charset="-122"/>
              </a:endParaRPr>
            </a:p>
          </p:txBody>
        </p:sp>
        <p:sp>
          <p:nvSpPr>
            <p:cNvPr id="97" name="圆角矩形 96"/>
            <p:cNvSpPr/>
            <p:nvPr/>
          </p:nvSpPr>
          <p:spPr>
            <a:xfrm>
              <a:off x="10425" y="7080"/>
              <a:ext cx="7872" cy="2620"/>
            </a:xfrm>
            <a:prstGeom prst="roundRect">
              <a:avLst/>
            </a:prstGeom>
            <a:noFill/>
            <a:ln w="28575" cmpd="sng">
              <a:solidFill>
                <a:schemeClr val="accent3">
                  <a:lumMod val="75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5478145" y="231140"/>
            <a:ext cx="6096000" cy="2122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Han Jing 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 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84150" y="2452370"/>
            <a:ext cx="11221720" cy="20847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1. These parts maybe fully completed before week-10 mid-term pre (I guess) , and after that we’ll use MLLM generate native english expression and entity extraction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2. This work distribution follows our earlier discussion and the info you shared. Maybe we can adjust it later if needed — this is just a first draft.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3. As for model part (backend), we can start from model selection, define input&amp;output, and try the function in a small dataset this week I think.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4. As for application part(frontend), maybe can draft a web picture (also we can design it together!) and define which web tool you want to choose , can try to construct some front-end input port this week. 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5. Later I’ll create a shared github repository and a sharing file/ Timeline/ Work Recordings of our group.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503160" y="808355"/>
            <a:ext cx="3699510" cy="615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600" b="1" i="1" u="sng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Work Allocation</a:t>
            </a:r>
            <a:endParaRPr lang="en-US" altLang="zh-CN" sz="3600" b="1" i="1" u="sng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10515" y="328930"/>
            <a:ext cx="11631930" cy="5193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600" b="1" i="1" u="sng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Previous Course Reference</a:t>
            </a:r>
            <a:endParaRPr lang="en-US" altLang="zh-CN" sz="3600" i="1" u="sng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https://huggingface.co/CS5647Team3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https://github.com/HanMeng2004/5647-DiffSinger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https://github.com/NNorahh/AudiobookGeneration_cs5647</a:t>
            </a:r>
            <a:r>
              <a:rPr lang="en-US" altLang="zh-CN" sz="1200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 (Their Website looks cool: https://rafaelgoulartb.github.io/audio-book-website/)</a:t>
            </a:r>
            <a:endParaRPr lang="en-US" altLang="zh-CN" sz="1200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 sz="1200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https://github.com/AnjuGopalkrishnan/pronunciation-evaluation-smc</a:t>
            </a:r>
            <a:r>
              <a:rPr lang="en-US" altLang="zh-CN" sz="1200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 (This project is a little similar to us maybe can serve as an arch ref)</a:t>
            </a:r>
            <a:endParaRPr lang="en-US" altLang="zh-CN" sz="1200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 sz="1200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https://github.com/HongruCai/CS5647_VocalTrainingAssistant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  <a:p>
            <a:r>
              <a:rPr lang="en-US" altLang="zh-CN">
                <a:solidFill>
                  <a:srgbClr val="5D5D5D"/>
                </a:solidFill>
                <a:latin typeface="Arial" panose="020B0604020202020204"/>
                <a:ea typeface="Times New Roman" panose="02020603050405020304"/>
                <a:sym typeface="+mn-ea"/>
              </a:rPr>
              <a:t>https://github.com/Samwei1/CS5647_Text2PianoMusic/tree/master</a:t>
            </a:r>
            <a:endParaRPr lang="en-US" altLang="zh-CN">
              <a:solidFill>
                <a:srgbClr val="5D5D5D"/>
              </a:solidFill>
              <a:latin typeface="Arial" panose="020B0604020202020204"/>
              <a:ea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2485</Words>
  <Application>WPS 演示</Application>
  <PresentationFormat>宽屏</PresentationFormat>
  <Paragraphs>131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Arial Unicode MS</vt:lpstr>
      <vt:lpstr>Calibri</vt:lpstr>
      <vt:lpstr>微软雅黑</vt:lpstr>
      <vt:lpstr>Arial</vt:lpstr>
      <vt:lpstr>Times New Roman</vt:lpstr>
      <vt:lpstr>Comic Sans MS</vt:lpstr>
      <vt:lpstr>可画甜心体 2</vt:lpstr>
      <vt:lpstr>可画甜心体 1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zlllllau</dc:creator>
  <cp:lastModifiedBy>lll</cp:lastModifiedBy>
  <cp:revision>57</cp:revision>
  <dcterms:created xsi:type="dcterms:W3CDTF">2023-08-09T12:44:00Z</dcterms:created>
  <dcterms:modified xsi:type="dcterms:W3CDTF">2025-09-20T04:26:50Z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